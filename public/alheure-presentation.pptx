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45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1274552" cy="36576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1">
                <a:solidFill>
                  <a:srgbClr val="FFFFFF"/>
                </a:solidFill>
                <a:latin typeface="Garamond"/>
              </a:rPr>
              <a:t>À l'Heure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3EE"/>
                </a:solidFill>
                <a:latin typeface="Calibri"/>
              </a:rPr>
              <a:t>LE QUOTIDIEN D'INFORMATION DU SÉNÉGAL ET DE L'AFRIQUE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RIGUEUR  ·  INDÉPENDANCE  ·  PROXIMITÉ  · 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Présentation institutionnelle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C8C8"/>
                </a:solidFill>
                <a:latin typeface="Calibri"/>
              </a:rPr>
              <a:t>alheure.info  |  ISSN 3020-0001  |  100 FCFA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54864" cy="585216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Qui sommes-nous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1">
                <a:solidFill>
                  <a:srgbClr val="0E2B62"/>
                </a:solidFill>
                <a:latin typeface="Garamond"/>
              </a:rPr>
              <a:t>À l'Heure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À l'Heure est un quotidien sénégalais d'information générale fondé en 2026, disponible en version papier et en ligne sur alheure.info.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05050"/>
                </a:solidFill>
                <a:latin typeface="Calibri"/>
              </a:rPr>
              <a:t>Siège : Dakar, Sénégal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05050"/>
                </a:solidFill>
                <a:latin typeface="Calibri"/>
              </a:rPr>
              <a:t>Couverture : nationale, africaine et internationale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05050"/>
                </a:solidFill>
                <a:latin typeface="Calibri"/>
              </a:rPr>
              <a:t>Équipe : journalistes professionnels et correspondants régionaux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05050"/>
                </a:solidFill>
                <a:latin typeface="Calibri"/>
              </a:rPr>
              <a:t>Format papier : tabloïd, du lundi au vendredi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05050"/>
                </a:solidFill>
                <a:latin typeface="Calibri"/>
              </a:rPr>
              <a:t>Prix de vente : 100 FCFA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05050"/>
                </a:solidFill>
                <a:latin typeface="Calibri"/>
              </a:rPr>
              <a:t>ISSN : 3020-0001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05050"/>
                </a:solidFill>
                <a:latin typeface="Calibri"/>
              </a:rPr>
              <a:t>Web : alheure.info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188720"/>
            <a:ext cx="4023360" cy="530352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Garamond"/>
              </a:rPr>
              <a:t>N° 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DC"/>
                </a:solidFill>
                <a:latin typeface="Calibri"/>
              </a:rPr>
              <a:t>Premier numéro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Garamond"/>
              </a:rPr>
              <a:t>100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DC"/>
                </a:solidFill>
                <a:latin typeface="Calibri"/>
              </a:rPr>
              <a:t>Prix de vente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Garamond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DC"/>
                </a:solidFill>
                <a:latin typeface="Calibri"/>
              </a:rPr>
              <a:t>Année de création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Garamond"/>
              </a:rPr>
              <a:t>alheure.info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DC"/>
                </a:solidFill>
                <a:latin typeface="Calibri"/>
              </a:rPr>
              <a:t>Site officiel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Nos valeurs fondatrices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5029200"/>
          </a:xfrm>
          <a:prstGeom prst="rect">
            <a:avLst/>
          </a:prstGeom>
          <a:solidFill>
            <a:srgbClr val="F5F3EE"/>
          </a:solidFill>
          <a:ln w="12700">
            <a:solidFill>
              <a:srgbClr val="C8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50292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RIGUEUR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Vérification systématique des faits. Journalisme de qualité, sources identifiées, corrections transparentes.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743200" cy="5029200"/>
          </a:xfrm>
          <a:prstGeom prst="rect">
            <a:avLst/>
          </a:prstGeom>
          <a:solidFill>
            <a:srgbClr val="F5F3EE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50292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INDÉPENDANCE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Ligne éditoriale libre de toute pression politique ou commerciale. Nous parlons vrai.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743200" cy="5029200"/>
          </a:xfrm>
          <a:prstGeom prst="rect">
            <a:avLst/>
          </a:prstGeom>
          <a:solidFill>
            <a:srgbClr val="F5F3EE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5029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PROXIMITÉ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Ancrage sénégalais fort. Correspondants dans toutes les régions. L'actualité locale au premier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743200" cy="5029200"/>
          </a:xfrm>
          <a:prstGeom prst="rect">
            <a:avLst/>
          </a:prstGeom>
          <a:solidFill>
            <a:srgbClr val="F5F3EE"/>
          </a:solidFill>
          <a:ln w="12700">
            <a:solidFill>
              <a:srgbClr val="B4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502920"/>
          </a:xfrm>
          <a:prstGeom prst="rect">
            <a:avLst/>
          </a:prstGeom>
          <a:solidFill>
            <a:srgbClr val="B4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Digital first : site web, podcasts, vidéos, newsletter, contenu en wolof. Nous évoluons avec les usages.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Notre offre éditoriale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RUBRIQUES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9568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Sénégal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568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Afrique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95728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432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Monde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395728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432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Politique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71216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907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Économie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871216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907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Société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46704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Sport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346704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Culture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22191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38587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Diaspora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822191"/>
            <a:ext cx="2286000" cy="34747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8587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Environnement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32588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325880"/>
            <a:ext cx="5486400" cy="45720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92024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95681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Reportages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195681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Enquêtes de terrain, grand reportage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42316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45973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Enquêtes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45973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Investigations en profondeur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92608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96265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Analyses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9626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Décryptage et mise en contexte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42900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4655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Long format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4655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Dossiers approfondis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93192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9684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Podcasts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96849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Émissions audio hebdomadaires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43484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47141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Vidéos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47141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Reportages et interviews filmés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93776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97433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Newsletter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97433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Actu quotidienne par e-mail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440680"/>
            <a:ext cx="502920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547725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2B62"/>
                </a:solidFill>
                <a:latin typeface="Calibri"/>
              </a:rPr>
              <a:t>• Wolof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4772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Calibri"/>
              </a:rPr>
              <a:t>Mot du jour, actu en wolof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Le journal papier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Tabloïd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PÉRIODICITÉ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Du lundi au vendredi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060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PRIX DE VENTE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71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100 FCFA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560320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560320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ISSN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71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3020-0001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947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PREMIER NUMÉRO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605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29 janvier 2026  (N° 001)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749039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49039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7947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1605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Kiosques de Dakar et grandes villes du Sénégal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37760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9834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LANGUE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349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Français (avec contenu en wolof)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937760"/>
            <a:ext cx="5394960" cy="10058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937760"/>
            <a:ext cx="5394960" cy="347472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9834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PAGINATION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349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aramond"/>
              </a:rPr>
              <a:t>En développement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Le site web  alheure.info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Articles en temps réel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Publication instantanée, catégorisée par rubrique et format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Podcasts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Émissions audio avec lecteur intégré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Vidéos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821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Reportages et interviews filmés, galerie vidéo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633472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633472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Newsletter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821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Abonnement e-mail pour recevoir l'actu quotidienne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95344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95344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05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Mot du jour en wolof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4398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Section culturelle avec lexique quotidien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895344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895344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005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Administration sécurisée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44398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Interface admin protégée, gestion multi-rôles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57216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57216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669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Responsive &amp; rapide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0585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Optimisé mobile / tablette / desktop (Next.js)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157216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157216"/>
            <a:ext cx="73152" cy="11430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2669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B62"/>
                </a:solidFill>
                <a:latin typeface="Calibri"/>
              </a:rPr>
              <a:t>Réseaux sociaux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70585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Calibri"/>
              </a:rPr>
              <a:t>Facebook · X (Twitter) · Instagram · YouTube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Audience &amp; chiffres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Garamond"/>
              </a:rPr>
              <a:t>N° 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Premier numéro
29 janvier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Garamond"/>
              </a:rPr>
              <a:t>100 FCFA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Prix de vente
du journal papier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Garamond"/>
              </a:rPr>
              <a:t>alheure.info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Site bimédia
lancé en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371600"/>
            <a:ext cx="2560320" cy="2560320"/>
          </a:xfrm>
          <a:prstGeom prst="rect">
            <a:avLst/>
          </a:prstGeom>
          <a:solidFill>
            <a:srgbClr val="963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Garamond"/>
              </a:rPr>
              <a:t>4 réseaux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Présence sur
FB · X · IG · YT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74552" cy="2286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2B62"/>
                </a:solidFill>
                <a:latin typeface="Calibri"/>
              </a:rPr>
              <a:t>Cible éditoriale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Lecteurs sénégalais et africains, 18–55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93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Diaspora sénégalaise en Europe et Amérique du Nord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41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Décideurs, élites économiques et politiques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88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Jeunes urbains connectés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2B62"/>
                </a:solidFill>
                <a:latin typeface="Calibri"/>
              </a:rPr>
              <a:t>Présence digitale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alheure.info – site principal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93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Facebook, Instagram, X, YouTube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41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Newsletter quotidienne par e-mail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888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Calibri"/>
              </a:rPr>
              <a:t>•  Application mobile (en projet)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Publicité &amp; partenariats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560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560320" cy="50292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JOURNAL PAPIER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Encart pleine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706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Demi-page &amp; quart de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753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Bandeau 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799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Insert publicitaire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846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Publi-reportage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560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560320" cy="50292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SITE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Bannière homepage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7706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Article sponsorisé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753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Newsletter dédiée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3799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Sponsored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1846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Display multi-rubriques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2560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325880"/>
            <a:ext cx="2560320" cy="5029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RÉSEAUX SOCIAUX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Post sponsorisé FB/Instagram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706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Vidéo sponsorisée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5753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Campagne 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3799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Partenariat influenceur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846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Live événementiel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325880"/>
            <a:ext cx="2560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63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325880"/>
            <a:ext cx="2560320" cy="502920"/>
          </a:xfrm>
          <a:prstGeom prst="rect">
            <a:avLst/>
          </a:prstGeom>
          <a:solidFill>
            <a:srgbClr val="963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PARTENARIATS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Co-production éditoriale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7706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Événements presse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57530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Formation journalisme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37997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Hors-série thématique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1846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Contenu sur-mesure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Garamond"/>
              </a:rPr>
              <a:t>Notre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560320" cy="5212080"/>
          </a:xfrm>
          <a:prstGeom prst="rect">
            <a:avLst/>
          </a:prstGeom>
          <a:solidFill>
            <a:srgbClr val="F5F3EE"/>
          </a:solidFill>
          <a:ln w="12700">
            <a:solidFill>
              <a:srgbClr val="C8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560320" cy="50292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RÉDACTION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Rédacteur en chef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157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Chefs de rubrique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Journalistes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15383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Correcteurs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651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Photographes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560320" cy="5212080"/>
          </a:xfrm>
          <a:prstGeom prst="rect">
            <a:avLst/>
          </a:prstGeom>
          <a:solidFill>
            <a:srgbClr val="F5F3EE"/>
          </a:solidFill>
          <a:ln w="12700">
            <a:solidFill>
              <a:srgbClr val="0E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560320" cy="50292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Maquettistes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157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Iconographes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655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Infographistes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15383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Éditeurs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651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Caméramans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2560320" cy="5212080"/>
          </a:xfrm>
          <a:prstGeom prst="rect">
            <a:avLst/>
          </a:prstGeom>
          <a:solidFill>
            <a:srgbClr val="F5F3EE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325880"/>
            <a:ext cx="2560320" cy="5029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Directeur pub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157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Chargés de comptes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655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Responsable partenariats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15383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Distribution papier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9651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Abonnements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325880"/>
            <a:ext cx="2560320" cy="5212080"/>
          </a:xfrm>
          <a:prstGeom prst="rect">
            <a:avLst/>
          </a:prstGeom>
          <a:solidFill>
            <a:srgbClr val="F5F3EE"/>
          </a:solidFill>
          <a:ln w="12700">
            <a:solidFill>
              <a:srgbClr val="963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325880"/>
            <a:ext cx="2560320" cy="502920"/>
          </a:xfrm>
          <a:prstGeom prst="rect">
            <a:avLst/>
          </a:prstGeom>
          <a:solidFill>
            <a:srgbClr val="963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Développeurs 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7157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Responsable 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4655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SEO /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215383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Podcast studio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9651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Newsletter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C8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1">
                <a:solidFill>
                  <a:srgbClr val="FFFFFF"/>
                </a:solidFill>
                <a:latin typeface="Garamond"/>
              </a:rPr>
              <a:t>À l'Heure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F3EE"/>
                </a:solidFill>
                <a:latin typeface="Calibri"/>
              </a:rPr>
              <a:t>LE QUOTIDIEN D'INFORMATION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RIGUEUR  ·  INDÉPENDANCE  ·  PROXIMITÉ  · 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DC"/>
                </a:solidFill>
                <a:latin typeface="Calibri"/>
              </a:rPr>
              <a:t>SITE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alheure.info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DC"/>
                </a:solidFill>
                <a:latin typeface="Calibri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contact@alheure.info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DC"/>
                </a:solidFill>
                <a:latin typeface="Calibri"/>
              </a:rPr>
              <a:t>ISSN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3020-0001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B4DC"/>
                </a:solidFill>
                <a:latin typeface="Calibri"/>
              </a:rPr>
              <a:t>RÉSEAUX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Facebook · X · Instagram · YouTube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Dakar, Sénégal  ·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C8C8"/>
                </a:solidFill>
                <a:latin typeface="Calibri"/>
              </a:rPr>
              <a:t>© À l'Heure 2026  —  Tous droits réservés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